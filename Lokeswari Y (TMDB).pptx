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73" r:id="rId2"/>
    <p:sldId id="257" r:id="rId3"/>
    <p:sldId id="260" r:id="rId4"/>
    <p:sldId id="261" r:id="rId5"/>
    <p:sldId id="262" r:id="rId6"/>
    <p:sldId id="271" r:id="rId7"/>
    <p:sldId id="263" r:id="rId8"/>
    <p:sldId id="274" r:id="rId9"/>
    <p:sldId id="265" r:id="rId10"/>
    <p:sldId id="266" r:id="rId11"/>
    <p:sldId id="268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01252-EF57-4478-AEE8-13368FDEB69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BB239-B9B0-412B-B1E5-36CC2E806E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666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8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23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6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45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59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17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25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054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17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98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961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824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615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339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748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00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A952BB2-7DF0-42F4-A502-5475F1BD29C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E212289-4818-4D58-922E-526F7048C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98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loki4887/TMDB-Research-project-.gi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A3BA-1821-57D9-5D0E-61295352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" y="609600"/>
            <a:ext cx="6635383" cy="4064000"/>
          </a:xfrm>
        </p:spPr>
        <p:txBody>
          <a:bodyPr/>
          <a:lstStyle/>
          <a:p>
            <a:r>
              <a:rPr lang="en-US" b="1" dirty="0">
                <a:solidFill>
                  <a:srgbClr val="282828"/>
                </a:solidFill>
              </a:rPr>
              <a:t>Predicting Movie Box Office Revenue Using Machine Learning</a:t>
            </a:r>
            <a:br>
              <a:rPr lang="en-US" b="1" dirty="0">
                <a:solidFill>
                  <a:srgbClr val="282828"/>
                </a:solidFill>
              </a:rPr>
            </a:br>
            <a:br>
              <a:rPr lang="en-US" b="1" dirty="0">
                <a:solidFill>
                  <a:srgbClr val="282828"/>
                </a:solidFill>
              </a:rPr>
            </a:br>
            <a:r>
              <a:rPr lang="en-US" sz="2400" dirty="0">
                <a:latin typeface="Tw Cen MT (Body)"/>
                <a:ea typeface="Calibri" panose="020F0502020204030204" pitchFamily="34" charset="0"/>
                <a:cs typeface="Calibri" panose="020F0502020204030204" pitchFamily="34" charset="0"/>
              </a:rPr>
              <a:t>machine learning project that predicts movie box office revenue using movie features</a:t>
            </a:r>
            <a:br>
              <a:rPr lang="en-US" sz="2400" dirty="0">
                <a:latin typeface="Tw Cen MT (Body)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400" dirty="0"/>
          </a:p>
        </p:txBody>
      </p:sp>
      <p:pic>
        <p:nvPicPr>
          <p:cNvPr id="6" name="Picture Placeholder 5" descr="A blue car parked in front of a movie theater&#10;&#10;AI-generated content may be incorrect.">
            <a:extLst>
              <a:ext uri="{FF2B5EF4-FFF2-40B4-BE49-F238E27FC236}">
                <a16:creationId xmlns:a16="http://schemas.microsoft.com/office/drawing/2014/main" id="{216C74A0-08F6-862B-D033-878936A3302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" r="8109"/>
          <a:stretch>
            <a:fillRect/>
          </a:stretch>
        </p:blipFill>
        <p:spPr>
          <a:xfrm>
            <a:off x="7424802" y="855133"/>
            <a:ext cx="3979797" cy="493606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99526-EF04-0527-4970-53C4F471E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4673600"/>
            <a:ext cx="6239143" cy="1920239"/>
          </a:xfrm>
        </p:spPr>
        <p:txBody>
          <a:bodyPr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Tw Cen MT (Body)"/>
                <a:ea typeface="Calibri" panose="020F0502020204030204" pitchFamily="34" charset="0"/>
                <a:cs typeface="Calibri" panose="020F0502020204030204" pitchFamily="34" charset="0"/>
              </a:rPr>
              <a:t>Presented by : Lokeswari</a:t>
            </a:r>
            <a:r>
              <a:rPr lang="en-US" sz="2200" dirty="0">
                <a:latin typeface="Tw Cen MT (Body)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2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Tw Cen MT (Body)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200" b="0" i="0" u="none" strike="noStrike" kern="1200" cap="all" spc="0" normalizeH="0" baseline="0" noProof="0" dirty="0" err="1">
                <a:ln>
                  <a:noFill/>
                </a:ln>
                <a:effectLst/>
                <a:uLnTx/>
                <a:uFillTx/>
                <a:latin typeface="Tw Cen MT (Body)"/>
                <a:ea typeface="Calibri" panose="020F0502020204030204" pitchFamily="34" charset="0"/>
                <a:cs typeface="Calibri" panose="020F0502020204030204" pitchFamily="34" charset="0"/>
              </a:rPr>
              <a:t>Yaratapalli</a:t>
            </a:r>
            <a:endParaRPr kumimoji="0" lang="en-US" sz="2200" b="0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Tw Cen MT (Body)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Tw Cen MT (Body)"/>
                <a:ea typeface="Calibri" panose="020F0502020204030204" pitchFamily="34" charset="0"/>
                <a:cs typeface="Calibri" panose="020F0502020204030204" pitchFamily="34" charset="0"/>
              </a:rPr>
              <a:t>MSc Data Science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Tw Cen MT (Body)"/>
                <a:ea typeface="Calibri" panose="020F0502020204030204" pitchFamily="34" charset="0"/>
                <a:cs typeface="Calibri" panose="020F0502020204030204" pitchFamily="34" charset="0"/>
              </a:rPr>
              <a:t>UNIVERSITY OF HERTFORDSHIRE </a:t>
            </a:r>
          </a:p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https://github.com/sriloki4887/TMDB-Research-project-.git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36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3CCB-C758-35CA-B8E6-4712AF568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458686"/>
          </a:xfrm>
        </p:spPr>
        <p:txBody>
          <a:bodyPr>
            <a:normAutofit fontScale="90000"/>
          </a:bodyPr>
          <a:lstStyle/>
          <a:p>
            <a:br>
              <a:rPr lang="en-IN" b="1" dirty="0">
                <a:solidFill>
                  <a:srgbClr val="282828"/>
                </a:solidFill>
              </a:rPr>
            </a:br>
            <a:br>
              <a:rPr lang="en-IN" b="1" dirty="0">
                <a:solidFill>
                  <a:srgbClr val="282828"/>
                </a:solidFill>
              </a:rPr>
            </a:br>
            <a:r>
              <a:rPr lang="en-IN" b="1" dirty="0">
                <a:solidFill>
                  <a:srgbClr val="282828"/>
                </a:solidFill>
              </a:rPr>
              <a:t>Research Question</a:t>
            </a:r>
            <a:br>
              <a:rPr lang="en-IN" b="1" dirty="0">
                <a:solidFill>
                  <a:srgbClr val="282828"/>
                </a:solidFill>
              </a:rPr>
            </a:br>
            <a:br>
              <a:rPr lang="en-IN" b="1" dirty="0">
                <a:solidFill>
                  <a:srgbClr val="282828"/>
                </a:solidFill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BAE4B-ED3E-A0EE-A834-DE4F8E9F5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75" y="2480733"/>
            <a:ext cx="10364452" cy="3310468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dirty="0">
                <a:solidFill>
                  <a:srgbClr val="282828"/>
                </a:solidFill>
                <a:latin typeface="Tw Cen MT (Body)"/>
                <a:ea typeface="Calibri" panose="020F0502020204030204" pitchFamily="34" charset="0"/>
                <a:cs typeface="Calibri" panose="020F0502020204030204" pitchFamily="34" charset="0"/>
              </a:rPr>
              <a:t>Can movie features such as budget, runtime, genre, popularity, vote average and vote count predict box office revenue?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1" dirty="0"/>
              <a:t>Revenue Prediction - </a:t>
            </a:r>
            <a:r>
              <a:rPr lang="en-US" dirty="0"/>
              <a:t>Can machine learning models predict movie box office revenue accurately?</a:t>
            </a:r>
          </a:p>
          <a:p>
            <a:pPr algn="l"/>
            <a:r>
              <a:rPr lang="en-US" b="1" dirty="0"/>
              <a:t>2.    Key Features - </a:t>
            </a:r>
            <a:r>
              <a:rPr lang="en-US" dirty="0"/>
              <a:t>Which movie features influence revenue the most?</a:t>
            </a:r>
          </a:p>
          <a:p>
            <a:pPr algn="l"/>
            <a:r>
              <a:rPr lang="en-US" b="1" dirty="0"/>
              <a:t>3.    Financial Decision Making - </a:t>
            </a:r>
            <a:r>
              <a:rPr lang="en-US" dirty="0"/>
              <a:t>Can predictive analytics support movie production planning?</a:t>
            </a:r>
          </a:p>
          <a:p>
            <a:pPr algn="l"/>
            <a:r>
              <a:rPr lang="en-US" b="1" dirty="0"/>
              <a:t> 4.   Feature Relationships - </a:t>
            </a:r>
            <a:r>
              <a:rPr lang="en-US" dirty="0"/>
              <a:t>How do budget, popularity, and ratings affect revenue?</a:t>
            </a:r>
          </a:p>
        </p:txBody>
      </p:sp>
    </p:spTree>
    <p:extLst>
      <p:ext uri="{BB962C8B-B14F-4D97-AF65-F5344CB8AC3E}">
        <p14:creationId xmlns:p14="http://schemas.microsoft.com/office/powerpoint/2010/main" val="331405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C1ED1-28BD-90FD-FD1D-BA15FCF1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56047"/>
          </a:xfrm>
        </p:spPr>
        <p:txBody>
          <a:bodyPr/>
          <a:lstStyle/>
          <a:p>
            <a:r>
              <a:rPr lang="en-US" dirty="0"/>
              <a:t>DATASET &amp; ethics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CE2E5-2686-AD54-A3D1-50258581E1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850834"/>
            <a:ext cx="10363826" cy="43886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Source: </a:t>
            </a:r>
            <a:r>
              <a:rPr lang="en-IN" dirty="0"/>
              <a:t>TMDB Movie Dataset (real-world movie metadata)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Records: </a:t>
            </a:r>
            <a:r>
              <a:rPr lang="en-IN" dirty="0"/>
              <a:t>10,000+ movies after preprocessing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 Features: </a:t>
            </a:r>
            <a:r>
              <a:rPr lang="en-IN" dirty="0"/>
              <a:t>Budget, Runtime, Genre, Popularity, Vote Average, Vote Count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 Ethics: </a:t>
            </a:r>
            <a:r>
              <a:rPr lang="en-IN" dirty="0"/>
              <a:t>Dataset is public and contains no personal or sensitive information.</a:t>
            </a:r>
          </a:p>
          <a:p>
            <a:pPr marL="0" indent="0">
              <a:buNone/>
              <a:defRPr sz="2200"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8F6B7324-EE3A-0676-9567-F06744227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460" y="4038600"/>
            <a:ext cx="8968454" cy="192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1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EE62-33B3-2721-ED51-3B54D1F0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286483"/>
          </a:xfrm>
        </p:spPr>
        <p:txBody>
          <a:bodyPr/>
          <a:lstStyle/>
          <a:p>
            <a:r>
              <a:rPr lang="en-IN" dirty="0"/>
              <a:t>EXPLORATORY DATA ANALYSIS</a:t>
            </a:r>
          </a:p>
        </p:txBody>
      </p:sp>
      <p:pic>
        <p:nvPicPr>
          <p:cNvPr id="6" name="Content Placeholder 5" descr="A graph showing a number of small colored dots&#10;&#10;AI-generated content may be incorrect.">
            <a:extLst>
              <a:ext uri="{FF2B5EF4-FFF2-40B4-BE49-F238E27FC236}">
                <a16:creationId xmlns:a16="http://schemas.microsoft.com/office/drawing/2014/main" id="{76F86CE8-CC84-3D6A-E7AF-A4FF301415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2013857"/>
            <a:ext cx="4734560" cy="2783819"/>
          </a:xfrm>
        </p:spPr>
      </p:pic>
      <p:pic>
        <p:nvPicPr>
          <p:cNvPr id="8" name="Content Placeholder 7" descr="A grid of squares with numbers&#10;&#10;AI-generated content may be incorrect.">
            <a:extLst>
              <a:ext uri="{FF2B5EF4-FFF2-40B4-BE49-F238E27FC236}">
                <a16:creationId xmlns:a16="http://schemas.microsoft.com/office/drawing/2014/main" id="{7C0473AF-B038-C1D3-9821-CC3C26859DB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982" y="2013858"/>
            <a:ext cx="4511578" cy="273363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92E528-ABD6-E32F-B7DB-B7C5B2E46026}"/>
              </a:ext>
            </a:extLst>
          </p:cNvPr>
          <p:cNvSpPr txBox="1"/>
          <p:nvPr/>
        </p:nvSpPr>
        <p:spPr>
          <a:xfrm>
            <a:off x="1061182" y="4929418"/>
            <a:ext cx="44048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 Budget vs Revenue</a:t>
            </a:r>
          </a:p>
          <a:p>
            <a:r>
              <a:rPr lang="en-US" dirty="0"/>
              <a:t>Higher-budget movies generally earn more revenue.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Genre Analysis</a:t>
            </a:r>
          </a:p>
          <a:p>
            <a:r>
              <a:rPr lang="en-US" dirty="0"/>
              <a:t>Certain genres perform better commercially.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FE58C-3E29-D809-5106-8DC6F97123F0}"/>
              </a:ext>
            </a:extLst>
          </p:cNvPr>
          <p:cNvSpPr txBox="1"/>
          <p:nvPr/>
        </p:nvSpPr>
        <p:spPr>
          <a:xfrm rot="10800000" flipV="1">
            <a:off x="6501862" y="4925459"/>
            <a:ext cx="45115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  Popularity &amp; Votes</a:t>
            </a:r>
          </a:p>
          <a:p>
            <a:r>
              <a:rPr lang="en-US" dirty="0"/>
              <a:t>Popularity and vote count show strong influence on revenue.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 Correlation Heatmap</a:t>
            </a:r>
          </a:p>
          <a:p>
            <a:r>
              <a:rPr lang="en-US" dirty="0"/>
              <a:t>Budget and popularity have strongest correlation with revenue.</a:t>
            </a:r>
          </a:p>
        </p:txBody>
      </p:sp>
    </p:spTree>
    <p:extLst>
      <p:ext uri="{BB962C8B-B14F-4D97-AF65-F5344CB8AC3E}">
        <p14:creationId xmlns:p14="http://schemas.microsoft.com/office/powerpoint/2010/main" val="240166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6AE6-9509-BB99-722D-9F6E453E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01EAC-5CD5-F395-2383-58C228B4C8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Remove missing &amp; zero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Extract main genre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Apply log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Feature scaling &amp; encoding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Train-test split (80/20)</a:t>
            </a:r>
          </a:p>
          <a:p>
            <a:pPr marL="0" indent="0" algn="ctr">
              <a:buNone/>
            </a:pPr>
            <a:r>
              <a:rPr lang="en-IN" dirty="0"/>
              <a:t>“A clean dataset improves model reliability and prediction accuracy.”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714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B722-8173-A873-F83B-778A8A3A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3E29-DA57-CD03-5409-E3320679BE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/>
              <a:t>Linear Regression - </a:t>
            </a:r>
            <a:r>
              <a:rPr lang="en-IN" dirty="0"/>
              <a:t>Baseline regression model for comparison.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Random Forest Regressor - </a:t>
            </a:r>
            <a:r>
              <a:rPr lang="en-IN" dirty="0"/>
              <a:t>Captures non-linear relationships using decision trees.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Gradient Boosting Regressor - </a:t>
            </a:r>
            <a:r>
              <a:rPr lang="en-US" dirty="0"/>
              <a:t>Sequential ensemble model that improves prediction accuracy by correcting previous errors.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MLP Regressor - </a:t>
            </a:r>
            <a:r>
              <a:rPr lang="en-IN" dirty="0"/>
              <a:t>Learns complex patterns through multiple hidden layers.</a:t>
            </a:r>
          </a:p>
          <a:p>
            <a:pPr marL="0" indent="0" algn="ctr">
              <a:buNone/>
            </a:pPr>
            <a:r>
              <a:rPr lang="en-IN" dirty="0"/>
              <a:t> “All models were trained and evaluated on the same dataset.”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132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AC5A-170F-2239-D5C9-6EB52650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68043"/>
          </a:xfrm>
        </p:spPr>
        <p:txBody>
          <a:bodyPr/>
          <a:lstStyle/>
          <a:p>
            <a:r>
              <a:rPr lang="en-US" dirty="0"/>
              <a:t>Model training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FDF7C-5636-0A69-7AE0-6542CB345E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21840"/>
            <a:ext cx="10363826" cy="43586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Linear Regression - </a:t>
            </a:r>
            <a:r>
              <a:rPr lang="en-IN" dirty="0"/>
              <a:t>Used as baseline performance model.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 Random Forest - </a:t>
            </a:r>
            <a:r>
              <a:rPr lang="en-IN" dirty="0"/>
              <a:t>Ensemble learning with multiple trees.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 MLP Regressor - </a:t>
            </a:r>
            <a:r>
              <a:rPr lang="en-IN" dirty="0"/>
              <a:t>Multi-layer neural network trained using backpropagation.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 Training Process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Feature scaling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One-Hot-Encoding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Pipeline preprocessing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500 iterations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F349C-D1CB-22D0-CA6F-58E8C0437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0" y="3685818"/>
            <a:ext cx="5825067" cy="240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8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C131-6FB7-3D0B-6645-9D0F3158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47F6-AA20-E48F-0AF5-41B042503C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/>
              <a:t>MLP Training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Neural network trained using backpropagation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/>
              <a:t>ReLU</a:t>
            </a:r>
            <a:r>
              <a:rPr lang="en-IN" dirty="0"/>
              <a:t> activation function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Adam optimizer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Multiple epochs for optimization </a:t>
            </a:r>
          </a:p>
          <a:p>
            <a:pPr marL="0" indent="0">
              <a:buNone/>
            </a:pPr>
            <a:r>
              <a:rPr lang="en-IN" b="1" dirty="0"/>
              <a:t>2.     Gradient Boosting Training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Sequential learning approach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Each tree corrects previous prediction errors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Improves overall prediction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219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18B8-004A-886A-3D2D-92BE79C4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584641"/>
          </a:xfrm>
        </p:spPr>
        <p:txBody>
          <a:bodyPr>
            <a:normAutofit fontScale="90000"/>
          </a:bodyPr>
          <a:lstStyle/>
          <a:p>
            <a:r>
              <a:rPr lang="en-US" dirty="0"/>
              <a:t>MODELS 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CAB0-F7C9-8E5F-3550-87CDAC44EF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03158"/>
            <a:ext cx="10363826" cy="530649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b="1" dirty="0"/>
              <a:t>MLP Regressor - </a:t>
            </a:r>
            <a:r>
              <a:rPr lang="en-IN" dirty="0"/>
              <a:t>Highest R² score and strongest prediction performance.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 Random Forest - </a:t>
            </a:r>
            <a:r>
              <a:rPr lang="en-IN" dirty="0"/>
              <a:t>Strong performance with good generalization.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Linear Regression - </a:t>
            </a:r>
            <a:r>
              <a:rPr lang="en-IN" dirty="0"/>
              <a:t>Lowest performance due to linear assumptions.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Gradient Boosting Regressor </a:t>
            </a:r>
            <a:r>
              <a:rPr lang="en-US" dirty="0"/>
              <a:t>- achieved the best overall performance.</a:t>
            </a:r>
          </a:p>
          <a:p>
            <a:pPr marL="0" indent="0">
              <a:buNone/>
            </a:pPr>
            <a:r>
              <a:rPr lang="en-US" dirty="0"/>
              <a:t>“Gradient Boosting captured complex non-linear relationships more effectively than other models.”</a:t>
            </a:r>
            <a:endParaRPr lang="en-IN" dirty="0"/>
          </a:p>
        </p:txBody>
      </p:sp>
      <p:pic>
        <p:nvPicPr>
          <p:cNvPr id="6" name="Picture 5" descr="A graph showing a performance comparison&#10;&#10;AI-generated content may be incorrect.">
            <a:extLst>
              <a:ext uri="{FF2B5EF4-FFF2-40B4-BE49-F238E27FC236}">
                <a16:creationId xmlns:a16="http://schemas.microsoft.com/office/drawing/2014/main" id="{D78D8EEF-6F18-83CA-9614-B47EF5E02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0" y="3886081"/>
            <a:ext cx="7579360" cy="250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93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1B53-546D-6B8C-51ED-2AF77E18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02283"/>
          </a:xfrm>
        </p:spPr>
        <p:txBody>
          <a:bodyPr/>
          <a:lstStyle/>
          <a:p>
            <a:r>
              <a:rPr lang="en-US" dirty="0"/>
              <a:t>feature importance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752A3-A8D8-1BC1-68DF-E605FFC278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828800"/>
            <a:ext cx="10363826" cy="332231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Budget - </a:t>
            </a:r>
            <a:r>
              <a:rPr lang="en-US" dirty="0"/>
              <a:t>Strongest predictor of revenue.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Popularity - </a:t>
            </a:r>
            <a:r>
              <a:rPr lang="en-US" dirty="0"/>
              <a:t>Highly influential for box office success.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Vote Count - </a:t>
            </a:r>
            <a:r>
              <a:rPr lang="en-US" dirty="0"/>
              <a:t>Reflects audience engagement.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Genre - </a:t>
            </a:r>
            <a:r>
              <a:rPr lang="en-US" dirty="0"/>
              <a:t>Certain genres generate higher revenue.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Feature Engineering Helped Ensemble Models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Improved learning quality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Reduced skewness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Enhanced model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520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407E-990E-DE7A-687D-0B8B28B2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35963"/>
          </a:xfrm>
        </p:spPr>
        <p:txBody>
          <a:bodyPr/>
          <a:lstStyle/>
          <a:p>
            <a:r>
              <a:rPr lang="en-US" dirty="0"/>
              <a:t>CONCLUSION &amp; future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F94C6-D6B9-25CF-C5C5-5893FC56C4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554480"/>
            <a:ext cx="10363826" cy="423671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ML Effectiveness - </a:t>
            </a:r>
            <a:r>
              <a:rPr lang="en-US" dirty="0"/>
              <a:t>Machine learning models successfully predicted movie box office revenue.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Best Model - </a:t>
            </a:r>
            <a:r>
              <a:rPr lang="en-US" dirty="0"/>
              <a:t>Gradient Boosting Regressor achieved the best overall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Key Insight - </a:t>
            </a:r>
            <a:r>
              <a:rPr lang="en-US" dirty="0"/>
              <a:t>Budget, popularity, and vote count were the most influential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Future Work</a:t>
            </a:r>
          </a:p>
          <a:p>
            <a:pPr marL="0" indent="0">
              <a:buNone/>
            </a:pPr>
            <a:r>
              <a:rPr lang="en-US" dirty="0"/>
              <a:t>Future improvements can include:</a:t>
            </a:r>
          </a:p>
          <a:p>
            <a:r>
              <a:rPr lang="en-US" dirty="0"/>
              <a:t>marketing budget </a:t>
            </a:r>
          </a:p>
          <a:p>
            <a:r>
              <a:rPr lang="en-US" dirty="0"/>
              <a:t>actor popularity </a:t>
            </a:r>
          </a:p>
          <a:p>
            <a:r>
              <a:rPr lang="en-US" dirty="0"/>
              <a:t>release timing </a:t>
            </a:r>
          </a:p>
          <a:p>
            <a:r>
              <a:rPr lang="en-US" dirty="0"/>
              <a:t>social media trends</a:t>
            </a:r>
          </a:p>
        </p:txBody>
      </p:sp>
    </p:spTree>
    <p:extLst>
      <p:ext uri="{BB962C8B-B14F-4D97-AF65-F5344CB8AC3E}">
        <p14:creationId xmlns:p14="http://schemas.microsoft.com/office/powerpoint/2010/main" val="3914144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CB59-D0A8-BDEA-333C-E55BB3B7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761757" cy="5469016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92247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497</TotalTime>
  <Words>572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Tw Cen MT</vt:lpstr>
      <vt:lpstr>Tw Cen MT (Body)</vt:lpstr>
      <vt:lpstr>Wingdings</vt:lpstr>
      <vt:lpstr>Droplet</vt:lpstr>
      <vt:lpstr>Predicting Movie Box Office Revenue Using Machine Learning  machine learning project that predicts movie box office revenue using movie features </vt:lpstr>
      <vt:lpstr>  Research Question  </vt:lpstr>
      <vt:lpstr>DATASET &amp; ethics</vt:lpstr>
      <vt:lpstr>EXPLORATORY DATA ANALYSIS</vt:lpstr>
      <vt:lpstr>data preprocessing</vt:lpstr>
      <vt:lpstr>Models used</vt:lpstr>
      <vt:lpstr>Model training </vt:lpstr>
      <vt:lpstr>Model training</vt:lpstr>
      <vt:lpstr>MODELS RESULTS</vt:lpstr>
      <vt:lpstr>feature importance analysis</vt:lpstr>
      <vt:lpstr>CONCLUSION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Narapareddy Pothireddy</dc:creator>
  <cp:lastModifiedBy>Narapareddy Pothireddy</cp:lastModifiedBy>
  <cp:revision>8</cp:revision>
  <dcterms:created xsi:type="dcterms:W3CDTF">2026-05-01T22:01:28Z</dcterms:created>
  <dcterms:modified xsi:type="dcterms:W3CDTF">2026-05-08T12:00:34Z</dcterms:modified>
</cp:coreProperties>
</file>